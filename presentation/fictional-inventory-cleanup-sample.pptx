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afd48ca5f2e4c61" /><Relationship Type="http://schemas.openxmlformats.org/officeDocument/2006/relationships/extended-properties" Target="/docProps/app.xml" Id="R6d63568874d74370" /><Relationship Type="http://schemas.openxmlformats.org/officeDocument/2006/relationships/officeDocument" Target="/ppt/presentation.xml" Id="R55e208bbfe94419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3e819339cc84e37"/>
  </p:sldMasterIdLst>
  <p:notesMasterIdLst>
    <p:notesMasterId xmlns:r="http://schemas.openxmlformats.org/officeDocument/2006/relationships" r:id="Rc3ea64757f6b4789"/>
  </p:notesMasterIdLst>
  <p:sldIdLst>
    <p:sldId xmlns:r="http://schemas.openxmlformats.org/officeDocument/2006/relationships" id="256" r:id="Re9d4d430751a4329"/>
    <p:sldId xmlns:r="http://schemas.openxmlformats.org/officeDocument/2006/relationships" id="257" r:id="R4ce98629572d4ccc"/>
    <p:sldId xmlns:r="http://schemas.openxmlformats.org/officeDocument/2006/relationships" id="258" r:id="R2e0bcc66a517483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b1b67f6210e4180" /><Relationship Type="http://schemas.openxmlformats.org/officeDocument/2006/relationships/slideMaster" Target="/ppt/slideMasters/slideMaster1.xml" Id="R93e819339cc84e37" /><Relationship Type="http://schemas.openxmlformats.org/officeDocument/2006/relationships/notesMaster" Target="/ppt/notesMasters/notesMaster1.xml" Id="Rc3ea64757f6b4789" /><Relationship Type="http://schemas.openxmlformats.org/officeDocument/2006/relationships/presProps" Target="/ppt/presProps.xml" Id="R389ba15823d54ae3" /><Relationship Type="http://schemas.openxmlformats.org/officeDocument/2006/relationships/tableStyles" Target="/ppt/tableStyles.xml" Id="R837f9c9c883e4088" /><Relationship Type="http://schemas.openxmlformats.org/officeDocument/2006/relationships/slide" Target="/ppt/slides/slide1.xml" Id="Re9d4d430751a4329" /><Relationship Type="http://schemas.openxmlformats.org/officeDocument/2006/relationships/slide" Target="/ppt/slides/slide2.xml" Id="R4ce98629572d4ccc" /><Relationship Type="http://schemas.openxmlformats.org/officeDocument/2006/relationships/slide" Target="/ppt/slides/slide3.xml" Id="R2e0bcc66a517483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db0ff1699044e4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2da26dc6afc4ad2" /><Relationship Type="http://schemas.openxmlformats.org/officeDocument/2006/relationships/notesMaster" Target="/ppt/notesMasters/notesMaster1.xml" Id="Ra5329f4b52424cf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b6a01ddbfa440dd" /><Relationship Type="http://schemas.openxmlformats.org/officeDocument/2006/relationships/notesMaster" Target="/ppt/notesMasters/notesMaster1.xml" Id="R4b640c69c980410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31ba978c3934487" /><Relationship Type="http://schemas.openxmlformats.org/officeDocument/2006/relationships/notesMaster" Target="/ppt/notesMasters/notesMaster1.xml" Id="R6c5b2c6c8655459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local fictional inventory cleanup workbook, 30 raw rows.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local fictional inventory cleanup workbook, raw 30, cleaned 27, excluded 3, values stated on Notes sheet.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local fictional inventory cleanup workbook and accompanying service sample.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e886258b65f470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e0b250e48504050" /><Relationship Type="http://schemas.openxmlformats.org/officeDocument/2006/relationships/slideLayout" Target="/ppt/slideLayouts/slideLayout1.xml" Id="Re1aec96796ad46c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1aec96796ad46c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9a0382507b446f0" /><Relationship Type="http://schemas.openxmlformats.org/officeDocument/2006/relationships/notesSlide" Target="/ppt/notesSlides/notesSlide1.xml" Id="R438d750c168e40c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05c0067dab54575" /><Relationship Type="http://schemas.openxmlformats.org/officeDocument/2006/relationships/notesSlide" Target="/ppt/notesSlides/notesSlide2.xml" Id="R7e4dbfca5e5e443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0d3d9a41cb3422f" /><Relationship Type="http://schemas.openxmlformats.org/officeDocument/2006/relationships/notesSlide" Target="/ppt/notesSlides/notesSlide3.xml" Id="Rbed1ace4e542473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94359938-B16F-49E8-91E3-04D8F1A65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66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714"/>
          </a:bodyPr>
          <a:lstStyle xmlns:a="http://schemas.openxmlformats.org/drawingml/2006/main"/>
          <a:p xmlns:a="http://schemas.openxmlformats.org/drawingml/2006/main">
            <a:pPr>
              <a:defRPr sz="1050" b="1" i="0">
                <a:solidFill>
                  <a:srgbClr val="0D9488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0D9488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01ED440-9901-414B-92F2-83258FE44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8572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700" b="1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The source file needs clear cleanup rules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0A0020C-6247-4F12-980C-5C6DD96DA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66825"/>
            <a:ext cx="952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0196"/>
          </a:bodyPr>
          <a:lstStyle xmlns:a="http://schemas.openxmlformats.org/drawingml/2006/main"/>
          <a:p xmlns:a="http://schemas.openxmlformats.org/drawingml/2006/main">
            <a:pPr>
              <a:defRPr sz="1275" b="0" i="0">
                <a:solidFill>
                  <a:srgbClr val="627D98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627D98"/>
                </a:solidFill>
                <a:latin typeface="Arial"/>
                <a:ea typeface="Arial"/>
                <a:cs typeface="Arial"/>
              </a:rPr>
              <a:t>A small fictional inventory export shows the kind of issues a client can see before delivery.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0FC2123-B4AA-427A-A55E-274707B03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954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C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3E4F588-09CD-4709-BD22-1BEFA2B71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19100"/>
            <a:ext cx="1962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627D98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627D98"/>
                </a:solidFill>
                <a:latin typeface="Arial"/>
                <a:ea typeface="Arial"/>
                <a:cs typeface="Arial"/>
              </a:rPr>
              <a:t>FICTIONAL DEMONSTRATION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0220514-0A54-4FDF-ACC1-3093D19EB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2762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6667"/>
          </a:bodyPr>
          <a:lstStyle xmlns:a="http://schemas.openxmlformats.org/drawingml/2006/main"/>
          <a:p xmlns:a="http://schemas.openxmlformats.org/drawingml/2006/main">
            <a:pPr>
              <a:defRPr sz="150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Raw export excerpt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CEFF5F3-9E7F-402A-B2D8-4A608CB35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52675"/>
            <a:ext cx="200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3809"/>
          </a:bodyPr>
          <a:lstStyle xmlns:a="http://schemas.openxmlformats.org/drawingml/2006/main"/>
          <a:p xmlns:a="http://schemas.openxmlformats.org/drawingml/2006/main">
            <a:pPr>
              <a:defRPr sz="1050" b="1" i="0">
                <a:solidFill>
                  <a:srgbClr val="0D9488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0D9488"/>
                </a:solidFill>
                <a:latin typeface="Arial"/>
                <a:ea typeface="Arial"/>
                <a:cs typeface="Arial"/>
              </a:rPr>
              <a:t>30 source rows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0E1709D-C7E1-49A3-A2B5-C0E8963DD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81300"/>
            <a:ext cx="13811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40D8F99-5C00-4846-A35E-F97CB53CC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857500"/>
            <a:ext cx="1190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3846"/>
          </a:bodyPr>
          <a:lstStyle xmlns:a="http://schemas.openxmlformats.org/drawingml/2006/main"/>
          <a:p xmlns:a="http://schemas.openxmlformats.org/drawingml/2006/main">
            <a:pPr>
              <a:defRPr sz="9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SKU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08EE308-C814-4BA3-A2BB-58F9E14F8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0725" y="2781300"/>
            <a:ext cx="1809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C69CF61-F5B3-480B-95CE-128BFF704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85975" y="2857500"/>
            <a:ext cx="1619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3846"/>
          </a:bodyPr>
          <a:lstStyle xmlns:a="http://schemas.openxmlformats.org/drawingml/2006/main"/>
          <a:p xmlns:a="http://schemas.openxmlformats.org/drawingml/2006/main">
            <a:pPr>
              <a:defRPr sz="9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Item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4293DC4-C2B1-4A62-AE0E-70727B154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0475" y="2781300"/>
            <a:ext cx="13811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C5BBDC7-6FB9-47DB-8375-43EB50322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95725" y="2857500"/>
            <a:ext cx="1190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3846"/>
          </a:bodyPr>
          <a:lstStyle xmlns:a="http://schemas.openxmlformats.org/drawingml/2006/main"/>
          <a:p xmlns:a="http://schemas.openxmlformats.org/drawingml/2006/main">
            <a:pPr>
              <a:defRPr sz="9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Count date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280DE7A-E5DB-49B7-9CC7-F5A9D4264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2781300"/>
            <a:ext cx="12858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CEF88B9-E628-4758-8416-ECE86E623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2857500"/>
            <a:ext cx="10953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3846"/>
          </a:bodyPr>
          <a:lstStyle xmlns:a="http://schemas.openxmlformats.org/drawingml/2006/main"/>
          <a:p xmlns:a="http://schemas.openxmlformats.org/drawingml/2006/main">
            <a:pPr>
              <a:defRPr sz="9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Qty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E531CF0-DCAB-43DA-983E-7714B1DA1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7475" y="2781300"/>
            <a:ext cx="1428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43A8C99-AFAB-456E-9A0C-C9D02A07F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2725" y="2857500"/>
            <a:ext cx="1238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3846"/>
          </a:bodyPr>
          <a:lstStyle xmlns:a="http://schemas.openxmlformats.org/drawingml/2006/main"/>
          <a:p xmlns:a="http://schemas.openxmlformats.org/drawingml/2006/main">
            <a:pPr>
              <a:defRPr sz="9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Note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96AA28B-A1DF-4543-B829-BD7028B97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05150"/>
            <a:ext cx="13811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F095516-3A60-4FF5-B7CF-6CEEB05D6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219450"/>
            <a:ext cx="1190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3846"/>
          </a:bodyPr>
          <a:lstStyle xmlns:a="http://schemas.openxmlformats.org/drawingml/2006/main"/>
          <a:p xmlns:a="http://schemas.openxmlformats.org/drawingml/2006/main">
            <a:pPr>
              <a:defRPr sz="975" b="0" i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243B53"/>
                </a:solidFill>
                <a:latin typeface="Arial"/>
                <a:ea typeface="Arial"/>
                <a:cs typeface="Arial"/>
              </a:rPr>
              <a:t> INV-1001 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27AB537-8233-41CF-93B8-6C34BEC63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0725" y="3105150"/>
            <a:ext cx="1809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4A1C07D-109F-43F4-9677-3BD767311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85975" y="3219450"/>
            <a:ext cx="1619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3846"/>
          </a:bodyPr>
          <a:lstStyle xmlns:a="http://schemas.openxmlformats.org/drawingml/2006/main"/>
          <a:p xmlns:a="http://schemas.openxmlformats.org/drawingml/2006/main">
            <a:pPr>
              <a:defRPr sz="975" b="0" i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243B53"/>
                </a:solidFill>
                <a:latin typeface="Arial"/>
                <a:ea typeface="Arial"/>
                <a:cs typeface="Arial"/>
              </a:rPr>
              <a:t>Packing tape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15B33C5-5185-4A36-9588-A8D9FE671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0475" y="3105150"/>
            <a:ext cx="13811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6B03EAE-9A3D-4041-BE2D-A8E25C617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95725" y="3219450"/>
            <a:ext cx="1190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3846"/>
          </a:bodyPr>
          <a:lstStyle xmlns:a="http://schemas.openxmlformats.org/drawingml/2006/main"/>
          <a:p xmlns:a="http://schemas.openxmlformats.org/drawingml/2006/main">
            <a:pPr>
              <a:defRPr sz="975" b="0" i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243B53"/>
                </a:solidFill>
                <a:latin typeface="Arial"/>
                <a:ea typeface="Arial"/>
                <a:cs typeface="Arial"/>
              </a:rPr>
              <a:t>2026-01-04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8829C09-A75E-4039-B939-9E8B0D870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3105150"/>
            <a:ext cx="12858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A98AB67-F10D-44EA-A341-F1A48FAF8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3219450"/>
            <a:ext cx="10953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3846"/>
          </a:bodyPr>
          <a:lstStyle xmlns:a="http://schemas.openxmlformats.org/drawingml/2006/main"/>
          <a:p xmlns:a="http://schemas.openxmlformats.org/drawingml/2006/main">
            <a:pPr>
              <a:defRPr sz="975" b="0" i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243B53"/>
                </a:solidFill>
                <a:latin typeface="Arial"/>
                <a:ea typeface="Arial"/>
                <a:cs typeface="Arial"/>
              </a:rPr>
              <a:t>42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A745FEC-819F-48DE-B0B9-C04818CC7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7475" y="3105150"/>
            <a:ext cx="1428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22D6CEA-1D27-45BD-B7C9-2CA878976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2725" y="3219450"/>
            <a:ext cx="1238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3846"/>
          </a:bodyPr>
          <a:lstStyle xmlns:a="http://schemas.openxmlformats.org/drawingml/2006/main"/>
          <a:p xmlns:a="http://schemas.openxmlformats.org/drawingml/2006/main">
            <a:pPr>
              <a:defRPr sz="975" b="0" i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243B53"/>
                </a:solidFill>
                <a:latin typeface="Arial"/>
                <a:ea typeface="Arial"/>
                <a:cs typeface="Arial"/>
              </a:rPr>
              <a:t>Extra spaces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5378AB8-242D-46A0-8BB7-1B24EF2CB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05200"/>
            <a:ext cx="13811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0">
            <a:noFill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33EA9C3-B09E-4BE5-9768-66B2E6D7F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619500"/>
            <a:ext cx="1190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3846"/>
          </a:bodyPr>
          <a:lstStyle xmlns:a="http://schemas.openxmlformats.org/drawingml/2006/main"/>
          <a:p xmlns:a="http://schemas.openxmlformats.org/drawingml/2006/main">
            <a:pPr>
              <a:defRPr sz="975" b="0" i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243B53"/>
                </a:solidFill>
                <a:latin typeface="Arial"/>
                <a:ea typeface="Arial"/>
                <a:cs typeface="Arial"/>
              </a:rPr>
              <a:t>INV-1005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76C3F7F-71A8-4DB3-AF61-4209D0385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0725" y="3505200"/>
            <a:ext cx="1809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0">
            <a:noFill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5D9252D-8DDA-4C85-9BEC-68FE7E798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85975" y="3619500"/>
            <a:ext cx="1619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3846"/>
          </a:bodyPr>
          <a:lstStyle xmlns:a="http://schemas.openxmlformats.org/drawingml/2006/main"/>
          <a:p xmlns:a="http://schemas.openxmlformats.org/drawingml/2006/main">
            <a:pPr>
              <a:defRPr sz="975" b="0" i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243B53"/>
                </a:solidFill>
                <a:latin typeface="Arial"/>
                <a:ea typeface="Arial"/>
                <a:cs typeface="Arial"/>
              </a:rPr>
              <a:t>Shipping label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10940C8-E22C-4665-8789-7A57C3338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0475" y="3505200"/>
            <a:ext cx="13811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0">
            <a:noFill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8C9FF67-B93F-49D3-B98B-935DED582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95725" y="3619500"/>
            <a:ext cx="1190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3846"/>
          </a:bodyPr>
          <a:lstStyle xmlns:a="http://schemas.openxmlformats.org/drawingml/2006/main"/>
          <a:p xmlns:a="http://schemas.openxmlformats.org/drawingml/2006/main">
            <a:pPr>
              <a:defRPr sz="975" b="0" i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243B53"/>
                </a:solidFill>
                <a:latin typeface="Arial"/>
                <a:ea typeface="Arial"/>
                <a:cs typeface="Arial"/>
              </a:rPr>
              <a:t>01-17-2026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D27C404-BD7A-4ACC-A3C5-F44934201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3505200"/>
            <a:ext cx="12858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0">
            <a:noFill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0B3CF4D-523F-4EAA-AD2F-A4F5C39CA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3619500"/>
            <a:ext cx="10953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3846"/>
          </a:bodyPr>
          <a:lstStyle xmlns:a="http://schemas.openxmlformats.org/drawingml/2006/main"/>
          <a:p xmlns:a="http://schemas.openxmlformats.org/drawingml/2006/main">
            <a:pPr>
              <a:defRPr sz="975" b="0" i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243B53"/>
                </a:solidFill>
                <a:latin typeface="Arial"/>
                <a:ea typeface="Arial"/>
                <a:cs typeface="Arial"/>
              </a:rPr>
              <a:t>240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5B1180F-02D8-4F8E-B0B7-5D4CE60DB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7475" y="3505200"/>
            <a:ext cx="1428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0">
            <a:noFill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6F4F793-C344-44BE-9EE7-DD890D20E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2725" y="3619500"/>
            <a:ext cx="1238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3846"/>
          </a:bodyPr>
          <a:lstStyle xmlns:a="http://schemas.openxmlformats.org/drawingml/2006/main"/>
          <a:p xmlns:a="http://schemas.openxmlformats.org/drawingml/2006/main">
            <a:pPr>
              <a:defRPr sz="975" b="0" i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243B53"/>
                </a:solidFill>
                <a:latin typeface="Arial"/>
                <a:ea typeface="Arial"/>
                <a:cs typeface="Arial"/>
              </a:rPr>
              <a:t>Mixed date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0B49A64-B1EC-46F1-942E-4AEEF3F53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05250"/>
            <a:ext cx="13811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C1D7E4DA-3C4D-4652-92CE-3CA8A6109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019550"/>
            <a:ext cx="1190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3846"/>
          </a:bodyPr>
          <a:lstStyle xmlns:a="http://schemas.openxmlformats.org/drawingml/2006/main"/>
          <a:p xmlns:a="http://schemas.openxmlformats.org/drawingml/2006/main">
            <a:pPr>
              <a:defRPr sz="975" b="0" i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243B53"/>
                </a:solidFill>
                <a:latin typeface="Arial"/>
                <a:ea typeface="Arial"/>
                <a:cs typeface="Arial"/>
              </a:rPr>
              <a:t>INV-1005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6AAA1C5-0661-46C9-A28C-A452654B7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0725" y="3905250"/>
            <a:ext cx="1809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87F45CC8-98E1-4475-98AA-684CA843E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85975" y="4019550"/>
            <a:ext cx="1619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3846"/>
          </a:bodyPr>
          <a:lstStyle xmlns:a="http://schemas.openxmlformats.org/drawingml/2006/main"/>
          <a:p xmlns:a="http://schemas.openxmlformats.org/drawingml/2006/main">
            <a:pPr>
              <a:defRPr sz="975" b="0" i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243B53"/>
                </a:solidFill>
                <a:latin typeface="Arial"/>
                <a:ea typeface="Arial"/>
                <a:cs typeface="Arial"/>
              </a:rPr>
              <a:t>Shipping label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2018B84D-9668-4FC2-BEA1-56C9A45FD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0475" y="3905250"/>
            <a:ext cx="13811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478B13B0-CE63-4C85-8D66-69B292424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95725" y="4019550"/>
            <a:ext cx="1190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3846"/>
          </a:bodyPr>
          <a:lstStyle xmlns:a="http://schemas.openxmlformats.org/drawingml/2006/main"/>
          <a:p xmlns:a="http://schemas.openxmlformats.org/drawingml/2006/main">
            <a:pPr>
              <a:defRPr sz="975" b="0" i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243B53"/>
                </a:solidFill>
                <a:latin typeface="Arial"/>
                <a:ea typeface="Arial"/>
                <a:cs typeface="Arial"/>
              </a:rPr>
              <a:t>2026-03-21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9E8B6C10-F98D-41D0-B53E-168470B81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3905250"/>
            <a:ext cx="12858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A201EB7E-7C63-4F52-9D17-2BC190F42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4019550"/>
            <a:ext cx="10953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3846"/>
          </a:bodyPr>
          <a:lstStyle xmlns:a="http://schemas.openxmlformats.org/drawingml/2006/main"/>
          <a:p xmlns:a="http://schemas.openxmlformats.org/drawingml/2006/main">
            <a:pPr>
              <a:defRPr sz="975" b="0" i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243B53"/>
                </a:solidFill>
                <a:latin typeface="Arial"/>
                <a:ea typeface="Arial"/>
                <a:cs typeface="Arial"/>
              </a:rPr>
              <a:t>240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5A03D1BF-CD91-4B40-BDF1-E5899E542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7475" y="3905250"/>
            <a:ext cx="1428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4450EBFD-7A00-4933-98EE-601FF77BC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2725" y="4019550"/>
            <a:ext cx="1238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3846"/>
          </a:bodyPr>
          <a:lstStyle xmlns:a="http://schemas.openxmlformats.org/drawingml/2006/main"/>
          <a:p xmlns:a="http://schemas.openxmlformats.org/drawingml/2006/main">
            <a:pPr>
              <a:defRPr sz="975" b="1" i="0">
                <a:solidFill>
                  <a:srgbClr val="B45309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B45309"/>
                </a:solidFill>
                <a:latin typeface="Arial"/>
                <a:ea typeface="Arial"/>
                <a:cs typeface="Arial"/>
              </a:rPr>
              <a:t>Duplicate SKU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8E66FEA7-53B4-42A9-A60B-B79B33278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05300"/>
            <a:ext cx="13811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0">
            <a:noFill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EF3C13B4-7075-484A-8084-1FCD5BFFD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419600"/>
            <a:ext cx="1190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7DC5F5E9-FE8E-48EC-800B-DA689B4FA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0725" y="4305300"/>
            <a:ext cx="1809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0">
            <a:noFill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1DF9689F-690E-45A1-9680-B0C2A616E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85975" y="4419600"/>
            <a:ext cx="1619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3846"/>
          </a:bodyPr>
          <a:lstStyle xmlns:a="http://schemas.openxmlformats.org/drawingml/2006/main"/>
          <a:p xmlns:a="http://schemas.openxmlformats.org/drawingml/2006/main">
            <a:pPr>
              <a:defRPr sz="975" b="0" i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243B53"/>
                </a:solidFill>
                <a:latin typeface="Arial"/>
                <a:ea typeface="Arial"/>
                <a:cs typeface="Arial"/>
              </a:rPr>
              <a:t>Sample carton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CFC49839-82DD-4008-864A-72B8E9CED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0475" y="4305300"/>
            <a:ext cx="13811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0">
            <a:noFill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28C26868-9C42-4802-ACDC-866445EE3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95725" y="4419600"/>
            <a:ext cx="1190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3846"/>
          </a:bodyPr>
          <a:lstStyle xmlns:a="http://schemas.openxmlformats.org/drawingml/2006/main"/>
          <a:p xmlns:a="http://schemas.openxmlformats.org/drawingml/2006/main">
            <a:pPr>
              <a:defRPr sz="975" b="0" i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243B53"/>
                </a:solidFill>
                <a:latin typeface="Arial"/>
                <a:ea typeface="Arial"/>
                <a:cs typeface="Arial"/>
              </a:rPr>
              <a:t>2026-03-22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7191237B-25CD-4468-8DB9-CEB10DBDB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4305300"/>
            <a:ext cx="12858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0">
            <a:noFill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2C3A164C-E254-49F1-AF44-AFA366BA3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4419600"/>
            <a:ext cx="10953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3846"/>
          </a:bodyPr>
          <a:lstStyle xmlns:a="http://schemas.openxmlformats.org/drawingml/2006/main"/>
          <a:p xmlns:a="http://schemas.openxmlformats.org/drawingml/2006/main">
            <a:pPr>
              <a:defRPr sz="975" b="0" i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243B53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9B8CF1AA-EF95-487A-93A9-20365BE7D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7475" y="4305300"/>
            <a:ext cx="1428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0">
            <a:noFill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4D1D457C-E081-447F-A4D1-998E22B16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2725" y="4419600"/>
            <a:ext cx="1238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3846"/>
          </a:bodyPr>
          <a:lstStyle xmlns:a="http://schemas.openxmlformats.org/drawingml/2006/main"/>
          <a:p xmlns:a="http://schemas.openxmlformats.org/drawingml/2006/main">
            <a:pPr>
              <a:defRPr sz="975" b="1" i="0">
                <a:solidFill>
                  <a:srgbClr val="B45309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B45309"/>
                </a:solidFill>
                <a:latin typeface="Arial"/>
                <a:ea typeface="Arial"/>
                <a:cs typeface="Arial"/>
              </a:rPr>
              <a:t>Missing SKU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CB8124E8-0EA3-4C81-AE5A-A70928B0A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05350"/>
            <a:ext cx="13811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7ED"/>
          </a:solidFill>
          <a:ln xmlns:a="http://schemas.openxmlformats.org/drawingml/2006/main" w="0">
            <a:noFill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BF2AEB8A-89DA-4662-8D08-DFD90F772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819650"/>
            <a:ext cx="1190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3846"/>
          </a:bodyPr>
          <a:lstStyle xmlns:a="http://schemas.openxmlformats.org/drawingml/2006/main"/>
          <a:p xmlns:a="http://schemas.openxmlformats.org/drawingml/2006/main">
            <a:pPr>
              <a:defRPr sz="975" b="0" i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243B53"/>
                </a:solidFill>
                <a:latin typeface="Arial"/>
                <a:ea typeface="Arial"/>
                <a:cs typeface="Arial"/>
              </a:rPr>
              <a:t>INV-1017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4AC28C66-EF62-4FE4-ADFD-AA5BFD107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0725" y="4705350"/>
            <a:ext cx="1809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7ED"/>
          </a:solidFill>
          <a:ln xmlns:a="http://schemas.openxmlformats.org/drawingml/2006/main" w="0">
            <a:noFill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2A44618B-0FC4-4C94-B941-1C9BC81FE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85975" y="4819650"/>
            <a:ext cx="1619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3846"/>
          </a:bodyPr>
          <a:lstStyle xmlns:a="http://schemas.openxmlformats.org/drawingml/2006/main"/>
          <a:p xmlns:a="http://schemas.openxmlformats.org/drawingml/2006/main">
            <a:pPr>
              <a:defRPr sz="975" b="0" i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243B53"/>
                </a:solidFill>
                <a:latin typeface="Arial"/>
                <a:ea typeface="Arial"/>
                <a:cs typeface="Arial"/>
              </a:rPr>
              <a:t>Pallet jack wheel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A9CCD916-0C11-48B2-ADCB-B9F331239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0475" y="4705350"/>
            <a:ext cx="13811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7ED"/>
          </a:solidFill>
          <a:ln xmlns:a="http://schemas.openxmlformats.org/drawingml/2006/main" w="0">
            <a:noFill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CB1690A0-36F5-4126-9C8C-4AFD7C6FD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95725" y="4819650"/>
            <a:ext cx="1190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3846"/>
          </a:bodyPr>
          <a:lstStyle xmlns:a="http://schemas.openxmlformats.org/drawingml/2006/main"/>
          <a:p xmlns:a="http://schemas.openxmlformats.org/drawingml/2006/main">
            <a:pPr>
              <a:defRPr sz="975" b="0" i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243B53"/>
                </a:solidFill>
                <a:latin typeface="Arial"/>
                <a:ea typeface="Arial"/>
                <a:cs typeface="Arial"/>
              </a:rPr>
              <a:t>03/14/2026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B1C233C6-3625-4FBD-A97C-84094E57F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4705350"/>
            <a:ext cx="12858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7ED"/>
          </a:solidFill>
          <a:ln xmlns:a="http://schemas.openxmlformats.org/drawingml/2006/main" w="0">
            <a:noFill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1CF80FEE-9177-417E-8C76-5033333EC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4819650"/>
            <a:ext cx="10953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3846"/>
          </a:bodyPr>
          <a:lstStyle xmlns:a="http://schemas.openxmlformats.org/drawingml/2006/main"/>
          <a:p xmlns:a="http://schemas.openxmlformats.org/drawingml/2006/main">
            <a:pPr>
              <a:defRPr sz="975" b="0" i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243B53"/>
                </a:solidFill>
                <a:latin typeface="Arial"/>
                <a:ea typeface="Arial"/>
                <a:cs typeface="Arial"/>
              </a:rPr>
              <a:t>-2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8F659325-1F97-4C7F-AE0A-AD64DE6CD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7475" y="4705350"/>
            <a:ext cx="1428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7ED"/>
          </a:solidFill>
          <a:ln xmlns:a="http://schemas.openxmlformats.org/drawingml/2006/main" w="0">
            <a:noFill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44AAFF82-6858-4437-A20B-6B5BA8F96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2725" y="4819650"/>
            <a:ext cx="1238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3846"/>
          </a:bodyPr>
          <a:lstStyle xmlns:a="http://schemas.openxmlformats.org/drawingml/2006/main"/>
          <a:p xmlns:a="http://schemas.openxmlformats.org/drawingml/2006/main">
            <a:pPr>
              <a:defRPr sz="975" b="1" i="0">
                <a:solidFill>
                  <a:srgbClr val="B45309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B45309"/>
                </a:solidFill>
                <a:latin typeface="Arial"/>
                <a:ea typeface="Arial"/>
                <a:cs typeface="Arial"/>
              </a:rPr>
              <a:t>Keep and flag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70F577DB-4035-4D47-B47B-B2C3AE8D1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781300"/>
            <a:ext cx="304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2257"/>
          </a:bodyPr>
          <a:lstStyle xmlns:a="http://schemas.openxmlformats.org/drawingml/2006/main"/>
          <a:p xmlns:a="http://schemas.openxmlformats.org/drawingml/2006/main">
            <a:pPr>
              <a:defRPr sz="150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The delivery starts with a copy of the source file and a written rule for each issue.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B8938FB4-74C4-4313-8327-3E2DF768D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552825"/>
            <a:ext cx="3048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9488"/>
          </a:solidFill>
          <a:ln xmlns:a="http://schemas.openxmlformats.org/drawingml/2006/main" w="0">
            <a:noFill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828DC607-539B-4608-9C08-7FF2F503F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810000"/>
            <a:ext cx="3048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 i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243B53"/>
                </a:solidFill>
                <a:latin typeface="Arial"/>
                <a:ea typeface="Arial"/>
                <a:cs typeface="Arial"/>
              </a:rPr>
              <a:t>No customer reviews or business claims appear in this sample. The rows and product names are fictional.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025F7F5B-D8EB-4FA1-AA59-8492B84C6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4962525"/>
            <a:ext cx="228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3809"/>
          </a:bodyPr>
          <a:lstStyle xmlns:a="http://schemas.openxmlformats.org/drawingml/2006/main"/>
          <a:p xmlns:a="http://schemas.openxmlformats.org/drawingml/2006/main">
            <a:pPr>
              <a:defRPr sz="1050" b="1" i="0">
                <a:solidFill>
                  <a:srgbClr val="627D98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627D98"/>
                </a:solidFill>
                <a:latin typeface="Arial"/>
                <a:ea typeface="Arial"/>
                <a:cs typeface="Arial"/>
              </a:rPr>
              <a:t>Visible issues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B0B95B07-9C66-4C49-A8EC-E3A3E3412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5257800"/>
            <a:ext cx="3048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5370"/>
          </a:bodyPr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Duplicate key</a:t>
            </a:r>
          </a:p>
          <a:p xmlns:a="http://schemas.openxmlformats.org/drawingml/2006/main">
            <a:pPr>
              <a:defRPr sz="1350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Blank key</a:t>
            </a:r>
          </a:p>
          <a:p xmlns:a="http://schemas.openxmlformats.org/drawingml/2006/main">
            <a:pPr>
              <a:defRPr sz="1350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Mixed date formats</a:t>
            </a:r>
          </a:p>
          <a:p xmlns:a="http://schemas.openxmlformats.org/drawingml/2006/main">
            <a:pPr>
              <a:defRPr sz="1350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Negative quantity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95629BEE-CDDA-4EE3-B70E-F628043DD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C"/>
          </a:solidFill>
          <a:ln xmlns:a="http://schemas.openxmlformats.org/drawingml/2006/main" w="0">
            <a:noFill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2765C263-307F-41FC-A2B0-AAFB73C2D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0000"/>
          </a:bodyPr>
          <a:lstStyle xmlns:a="http://schemas.openxmlformats.org/drawingml/2006/main"/>
          <a:p xmlns:a="http://schemas.openxmlformats.org/drawingml/2006/main">
            <a:pPr>
              <a:defRPr sz="750" b="0" i="0">
                <a:solidFill>
                  <a:srgbClr val="627D98"/>
                </a:solidFill>
                <a:latin typeface="Arial"/>
                <a:ea typeface="Arial"/>
                <a:cs typeface="Arial"/>
              </a:defRPr>
            </a:pPr>
            <a:r>
              <a:rPr sz="750" b="0" i="0">
                <a:solidFill>
                  <a:srgbClr val="627D98"/>
                </a:solidFill>
                <a:latin typeface="Arial"/>
                <a:ea typeface="Arial"/>
                <a:cs typeface="Arial"/>
              </a:rPr>
              <a:t>Fictional inventory data. The original file remains unchanged.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EB2837A9-8446-468B-98B7-20389E4D9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6496050"/>
            <a:ext cx="2057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0000"/>
          </a:bodyPr>
          <a:lstStyle xmlns:a="http://schemas.openxmlformats.org/drawingml/2006/main"/>
          <a:p xmlns:a="http://schemas.openxmlformats.org/drawingml/2006/main">
            <a:pPr>
              <a:defRPr sz="750" b="0" i="0">
                <a:solidFill>
                  <a:srgbClr val="627D98"/>
                </a:solidFill>
                <a:latin typeface="Arial"/>
                <a:ea typeface="Arial"/>
                <a:cs typeface="Arial"/>
              </a:defRPr>
            </a:pPr>
            <a:r>
              <a:rPr sz="750" b="0" i="0">
                <a:solidFill>
                  <a:srgbClr val="627D98"/>
                </a:solidFill>
                <a:latin typeface="Arial"/>
                <a:ea typeface="Arial"/>
                <a:cs typeface="Arial"/>
              </a:rPr>
              <a:t>Inventory cleanup sample</a:t>
            </a:r>
          </a:p>
        </p:txBody>
      </p:sp>
    </p:spTree>
    <p:extLst>
      <p:ext uri="{BB962C8B-B14F-4D97-AF65-F5344CB8AC3E}">
        <p14:creationId xmlns:p14="http://schemas.microsoft.com/office/powerpoint/2010/main" val="192594336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BC5E54D-2FE1-4CE6-999C-A309E2957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66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714"/>
          </a:bodyPr>
          <a:lstStyle xmlns:a="http://schemas.openxmlformats.org/drawingml/2006/main"/>
          <a:p xmlns:a="http://schemas.openxmlformats.org/drawingml/2006/main">
            <a:pPr>
              <a:defRPr sz="1050" b="1" i="0">
                <a:solidFill>
                  <a:srgbClr val="0D9488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0D9488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7AA91B4-6482-4F52-BF6D-70A7B59C1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8572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700" b="1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A cleaned copy keeps the numbers traceable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197161E-CB5C-47FB-A7DC-3E0D4AD4D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66825"/>
            <a:ext cx="952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0196"/>
          </a:bodyPr>
          <a:lstStyle xmlns:a="http://schemas.openxmlformats.org/drawingml/2006/main"/>
          <a:p xmlns:a="http://schemas.openxmlformats.org/drawingml/2006/main">
            <a:pPr>
              <a:defRPr sz="1275" b="0" i="0">
                <a:solidFill>
                  <a:srgbClr val="627D98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627D98"/>
                </a:solidFill>
                <a:latin typeface="Arial"/>
                <a:ea typeface="Arial"/>
                <a:cs typeface="Arial"/>
              </a:rPr>
              <a:t>The sample separates records ready to use from rows that need a source decision.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E35BDC4-CE3F-46D7-B6E4-5A6ADDE2E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954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C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6039361-5EFF-4718-A2B7-D6403E063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19100"/>
            <a:ext cx="1962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627D98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627D98"/>
                </a:solidFill>
                <a:latin typeface="Arial"/>
                <a:ea typeface="Arial"/>
                <a:cs typeface="Arial"/>
              </a:rPr>
              <a:t>FICTIONAL DEMONSTRATION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80525C6-207A-42E0-ACF9-B2BFD4AF8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47900"/>
            <a:ext cx="2095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6795"/>
          </a:bodyPr>
          <a:lstStyle xmlns:a="http://schemas.openxmlformats.org/drawingml/2006/main"/>
          <a:p xmlns:a="http://schemas.openxmlformats.org/drawingml/2006/main">
            <a:pPr>
              <a:defRPr sz="390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3900" b="1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30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2711456-1B81-4C52-A8C9-9F45AD86E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24175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5000"/>
          </a:bodyPr>
          <a:lstStyle xmlns:a="http://schemas.openxmlformats.org/drawingml/2006/main"/>
          <a:p xmlns:a="http://schemas.openxmlformats.org/drawingml/2006/main">
            <a:pPr>
              <a:defRPr sz="1200" b="0" i="0">
                <a:solidFill>
                  <a:srgbClr val="627D98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627D98"/>
                </a:solidFill>
                <a:latin typeface="Arial"/>
                <a:ea typeface="Arial"/>
                <a:cs typeface="Arial"/>
              </a:rPr>
              <a:t>source rows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43C9E04-EA56-4792-BC1A-0335D3605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43275"/>
            <a:ext cx="2095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C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97C6583-FE85-4E3A-97AB-0DF0E9C5F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2247900"/>
            <a:ext cx="2095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6795"/>
          </a:bodyPr>
          <a:lstStyle xmlns:a="http://schemas.openxmlformats.org/drawingml/2006/main"/>
          <a:p xmlns:a="http://schemas.openxmlformats.org/drawingml/2006/main">
            <a:pPr>
              <a:defRPr sz="3900" b="1" i="0">
                <a:solidFill>
                  <a:srgbClr val="0D9488"/>
                </a:solidFill>
                <a:latin typeface="Arial"/>
                <a:ea typeface="Arial"/>
                <a:cs typeface="Arial"/>
              </a:defRPr>
            </a:pPr>
            <a:r>
              <a:rPr sz="3900" b="1" i="0">
                <a:solidFill>
                  <a:srgbClr val="0D9488"/>
                </a:solidFill>
                <a:latin typeface="Arial"/>
                <a:ea typeface="Arial"/>
                <a:cs typeface="Arial"/>
              </a:rPr>
              <a:t>27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63EA300-B8A2-4115-AD43-279E4F47D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2924175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5000"/>
          </a:bodyPr>
          <a:lstStyle xmlns:a="http://schemas.openxmlformats.org/drawingml/2006/main"/>
          <a:p xmlns:a="http://schemas.openxmlformats.org/drawingml/2006/main">
            <a:pPr>
              <a:defRPr sz="1200" b="0" i="0">
                <a:solidFill>
                  <a:srgbClr val="627D98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627D98"/>
                </a:solidFill>
                <a:latin typeface="Arial"/>
                <a:ea typeface="Arial"/>
                <a:cs typeface="Arial"/>
              </a:rPr>
              <a:t>cleaned rows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0337FF6-99D8-4271-BA5D-6F16F680C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3343275"/>
            <a:ext cx="2095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C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5955293-DE3F-4F94-9330-3BAF71CE6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2247900"/>
            <a:ext cx="2095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6795"/>
          </a:bodyPr>
          <a:lstStyle xmlns:a="http://schemas.openxmlformats.org/drawingml/2006/main"/>
          <a:p xmlns:a="http://schemas.openxmlformats.org/drawingml/2006/main">
            <a:pPr>
              <a:defRPr sz="3900" b="1" i="0">
                <a:solidFill>
                  <a:srgbClr val="B45309"/>
                </a:solidFill>
                <a:latin typeface="Arial"/>
                <a:ea typeface="Arial"/>
                <a:cs typeface="Arial"/>
              </a:defRPr>
            </a:pPr>
            <a:r>
              <a:rPr sz="3900" b="1" i="0">
                <a:solidFill>
                  <a:srgbClr val="B45309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BB411CA-6818-4C5C-860A-CA2675F40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2924175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5000"/>
          </a:bodyPr>
          <a:lstStyle xmlns:a="http://schemas.openxmlformats.org/drawingml/2006/main"/>
          <a:p xmlns:a="http://schemas.openxmlformats.org/drawingml/2006/main">
            <a:pPr>
              <a:defRPr sz="1200" b="0" i="0">
                <a:solidFill>
                  <a:srgbClr val="627D98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627D98"/>
                </a:solidFill>
                <a:latin typeface="Arial"/>
                <a:ea typeface="Arial"/>
                <a:cs typeface="Arial"/>
              </a:rPr>
              <a:t>held out of totals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10FAA00-E6D0-41AB-846D-892F1125E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3343275"/>
            <a:ext cx="2095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C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437B88C-52C7-4B0D-9929-9CA93A2F2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8145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6667"/>
          </a:bodyPr>
          <a:lstStyle xmlns:a="http://schemas.openxmlformats.org/drawingml/2006/main"/>
          <a:p xmlns:a="http://schemas.openxmlformats.org/drawingml/2006/main">
            <a:pPr>
              <a:defRPr sz="150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Reconciliation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78BB07B-2655-4DBE-B265-4BD15621F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00550"/>
            <a:ext cx="2762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4583"/>
          </a:bodyPr>
          <a:lstStyle xmlns:a="http://schemas.openxmlformats.org/drawingml/2006/main"/>
          <a:p xmlns:a="http://schemas.openxmlformats.org/drawingml/2006/main">
            <a:pPr>
              <a:defRPr sz="1200" b="0" i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243B53"/>
                </a:solidFill>
                <a:latin typeface="Arial"/>
                <a:ea typeface="Arial"/>
                <a:cs typeface="Arial"/>
              </a:rPr>
              <a:t>Raw stock value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2DCD077-186D-4B19-B052-8F93CBD53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4400550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458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$3,640.05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3343985-03C1-4EB3-9266-F97E1B338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24400"/>
            <a:ext cx="4667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C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21C171E-7446-4CCF-AD6B-3A48D28FB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57750"/>
            <a:ext cx="2762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4583"/>
          </a:bodyPr>
          <a:lstStyle xmlns:a="http://schemas.openxmlformats.org/drawingml/2006/main"/>
          <a:p xmlns:a="http://schemas.openxmlformats.org/drawingml/2006/main">
            <a:pPr>
              <a:defRPr sz="1200" b="0" i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243B53"/>
                </a:solidFill>
                <a:latin typeface="Arial"/>
                <a:ea typeface="Arial"/>
                <a:cs typeface="Arial"/>
              </a:rPr>
              <a:t>Cleaned stock value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E232291-8877-4852-B6D1-ADDE878B5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4857750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458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$3,591.60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8886A34-FBCB-4AFE-AFF8-FC10C3138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81600"/>
            <a:ext cx="4667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C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637108D-6BD1-49EA-91F5-97A4B32FF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14950"/>
            <a:ext cx="2762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4583"/>
          </a:bodyPr>
          <a:lstStyle xmlns:a="http://schemas.openxmlformats.org/drawingml/2006/main"/>
          <a:p xmlns:a="http://schemas.openxmlformats.org/drawingml/2006/main">
            <a:pPr>
              <a:defRPr sz="1200" b="0" i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243B53"/>
                </a:solidFill>
                <a:latin typeface="Arial"/>
                <a:ea typeface="Arial"/>
                <a:cs typeface="Arial"/>
              </a:rPr>
              <a:t>Difference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22204AC-B0F9-4BAD-857D-1E84F919E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5314950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458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B45309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B45309"/>
                </a:solidFill>
                <a:latin typeface="Arial"/>
                <a:ea typeface="Arial"/>
                <a:cs typeface="Arial"/>
              </a:rPr>
              <a:t>$48.45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F41D88C-A25D-46A7-8962-5FAEB05B0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4667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C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6C51A29-3817-4636-810A-A25989627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981450"/>
            <a:ext cx="4457700" cy="167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FFFA"/>
          </a:solidFill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822DA8A-94A4-4218-BAF4-E69C2EC08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2672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6667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Cleaned snapshot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98BECD5-0A50-4B56-AF39-DE22ADCA1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667250"/>
            <a:ext cx="3714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 i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243B53"/>
                </a:solidFill>
                <a:latin typeface="Arial"/>
                <a:ea typeface="Arial"/>
                <a:cs typeface="Arial"/>
              </a:rPr>
              <a:t>• Trimmed spaces in valid records</a:t>
            </a:r>
          </a:p>
          <a:p xmlns:a="http://schemas.openxmlformats.org/drawingml/2006/main">
            <a:pPr>
              <a:defRPr sz="1275" b="0" i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243B53"/>
                </a:solidFill>
                <a:latin typeface="Arial"/>
                <a:ea typeface="Arial"/>
                <a:cs typeface="Arial"/>
              </a:rPr>
              <a:t>• Standardized dates for the cleaned copy</a:t>
            </a:r>
          </a:p>
          <a:p xmlns:a="http://schemas.openxmlformats.org/drawingml/2006/main">
            <a:pPr>
              <a:defRPr sz="1275" b="0" i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243B53"/>
                </a:solidFill>
                <a:latin typeface="Arial"/>
                <a:ea typeface="Arial"/>
                <a:cs typeface="Arial"/>
              </a:rPr>
              <a:t>• Kept the first valid row for each SKU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DDD16AF-B01A-4EEE-9C98-1AECB0739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5867400"/>
            <a:ext cx="44291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291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B45309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B45309"/>
                </a:solidFill>
                <a:latin typeface="Arial"/>
                <a:ea typeface="Arial"/>
                <a:cs typeface="Arial"/>
              </a:rPr>
              <a:t>The negative quantity stays at -2. The sample flags it instead of inventing a correction.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C7A8A8F-E6E6-4BF1-B78B-92A33D2A3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C"/>
          </a:solidFill>
          <a:ln xmlns:a="http://schemas.openxmlformats.org/drawingml/2006/main" w="0">
            <a:noFill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AB1D1C8-5707-48FF-9ADF-0AEC5FF06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0000"/>
          </a:bodyPr>
          <a:lstStyle xmlns:a="http://schemas.openxmlformats.org/drawingml/2006/main"/>
          <a:p xmlns:a="http://schemas.openxmlformats.org/drawingml/2006/main">
            <a:pPr>
              <a:defRPr sz="750" b="0" i="0">
                <a:solidFill>
                  <a:srgbClr val="627D98"/>
                </a:solidFill>
                <a:latin typeface="Arial"/>
                <a:ea typeface="Arial"/>
                <a:cs typeface="Arial"/>
              </a:defRPr>
            </a:pPr>
            <a:r>
              <a:rPr sz="750" b="0" i="0">
                <a:solidFill>
                  <a:srgbClr val="627D98"/>
                </a:solidFill>
                <a:latin typeface="Arial"/>
                <a:ea typeface="Arial"/>
                <a:cs typeface="Arial"/>
              </a:rPr>
              <a:t>Counts and values come from the fictional workbook. $48.45 is the value of two duplicate rows and one blank-SKU row.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BE73B0F-D505-486F-B978-76D64FAE2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6496050"/>
            <a:ext cx="2057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0000"/>
          </a:bodyPr>
          <a:lstStyle xmlns:a="http://schemas.openxmlformats.org/drawingml/2006/main"/>
          <a:p xmlns:a="http://schemas.openxmlformats.org/drawingml/2006/main">
            <a:pPr>
              <a:defRPr sz="750" b="0" i="0">
                <a:solidFill>
                  <a:srgbClr val="627D98"/>
                </a:solidFill>
                <a:latin typeface="Arial"/>
                <a:ea typeface="Arial"/>
                <a:cs typeface="Arial"/>
              </a:defRPr>
            </a:pPr>
            <a:r>
              <a:rPr sz="750" b="0" i="0">
                <a:solidFill>
                  <a:srgbClr val="627D98"/>
                </a:solidFill>
                <a:latin typeface="Arial"/>
                <a:ea typeface="Arial"/>
                <a:cs typeface="Arial"/>
              </a:rPr>
              <a:t>Inventory cleanup sample</a:t>
            </a:r>
          </a:p>
        </p:txBody>
      </p:sp>
    </p:spTree>
    <p:extLst>
      <p:ext uri="{BB962C8B-B14F-4D97-AF65-F5344CB8AC3E}">
        <p14:creationId xmlns:p14="http://schemas.microsoft.com/office/powerpoint/2010/main" val="19561389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C979B8C-A974-43B8-80DF-FCF4B8724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66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714"/>
          </a:bodyPr>
          <a:lstStyle xmlns:a="http://schemas.openxmlformats.org/drawingml/2006/main"/>
          <a:p xmlns:a="http://schemas.openxmlformats.org/drawingml/2006/main">
            <a:pPr>
              <a:defRPr sz="1050" b="1" i="0">
                <a:solidFill>
                  <a:srgbClr val="0D9488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0D9488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19929B6-8A15-49AC-9354-C01FA0B25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8572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9454"/>
          </a:bodyPr>
          <a:lstStyle xmlns:a="http://schemas.openxmlformats.org/drawingml/2006/main"/>
          <a:p xmlns:a="http://schemas.openxmlformats.org/drawingml/2006/main">
            <a:pPr>
              <a:defRPr sz="270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700" b="1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The delivery makes unresolved records easy to find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F95D1F3-4B46-4397-8992-83829F085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66825"/>
            <a:ext cx="952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0196"/>
          </a:bodyPr>
          <a:lstStyle xmlns:a="http://schemas.openxmlformats.org/drawingml/2006/main"/>
          <a:p xmlns:a="http://schemas.openxmlformats.org/drawingml/2006/main">
            <a:pPr>
              <a:defRPr sz="1275" b="0" i="0">
                <a:solidFill>
                  <a:srgbClr val="627D98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627D98"/>
                </a:solidFill>
                <a:latin typeface="Arial"/>
                <a:ea typeface="Arial"/>
                <a:cs typeface="Arial"/>
              </a:rPr>
              <a:t>A client receives a cleaned copy, an issue list, and notes that explain what needs confirmation.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C2DF36F-3F57-4403-B69D-E71B16075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954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C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8C8E953-54AB-4B30-BC4B-6AF51CC85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19100"/>
            <a:ext cx="1962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627D98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627D98"/>
                </a:solidFill>
                <a:latin typeface="Arial"/>
                <a:ea typeface="Arial"/>
                <a:cs typeface="Arial"/>
              </a:rPr>
              <a:t>FICTIONAL DEMONSTRATION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CAC2D2A-9E10-4897-9403-395283AB9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90750"/>
            <a:ext cx="38100" cy="259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9488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7819838-D670-440C-A627-5DCBF0D8F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228850"/>
            <a:ext cx="285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6436"/>
          </a:bodyPr>
          <a:lstStyle xmlns:a="http://schemas.openxmlformats.org/drawingml/2006/main"/>
          <a:p xmlns:a="http://schemas.openxmlformats.org/drawingml/2006/main">
            <a:pPr>
              <a:defRPr sz="1575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Changed in the cleaned copy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4EE5E28-B72A-4EE8-B01D-4A2D5AAF0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952750"/>
            <a:ext cx="285750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243B53"/>
                </a:solidFill>
                <a:latin typeface="Arial"/>
                <a:ea typeface="Arial"/>
                <a:cs typeface="Arial"/>
              </a:rPr>
              <a:t>Extra spaces</a:t>
            </a:r>
          </a:p>
          <a:p xmlns:a="http://schemas.openxmlformats.org/drawingml/2006/main">
            <a:pPr>
              <a:defRPr sz="1350" b="0" i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243B53"/>
                </a:solidFill>
                <a:latin typeface="Arial"/>
                <a:ea typeface="Arial"/>
                <a:cs typeface="Arial"/>
              </a:rPr>
              <a:t>Mixed date formats</a:t>
            </a:r>
          </a:p>
          <a:p xmlns:a="http://schemas.openxmlformats.org/drawingml/2006/main">
            <a:pPr>
              <a:defRPr sz="1350" b="0" i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243B53"/>
                </a:solidFill>
                <a:latin typeface="Arial"/>
                <a:ea typeface="Arial"/>
                <a:cs typeface="Arial"/>
              </a:rPr>
              <a:t>Repeated valid SKU rows kept once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C579F4E-6C41-4835-9F9A-311B2D459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190750"/>
            <a:ext cx="38100" cy="259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7BE35D6-F5BE-47CE-8AEE-F1D3E5A25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228850"/>
            <a:ext cx="285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Kept for confirmation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3124273-9196-47EF-9829-B8BF3975E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952750"/>
            <a:ext cx="285750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243B53"/>
                </a:solidFill>
                <a:latin typeface="Arial"/>
                <a:ea typeface="Arial"/>
                <a:cs typeface="Arial"/>
              </a:rPr>
              <a:t>Duplicate SKU rows</a:t>
            </a:r>
          </a:p>
          <a:p xmlns:a="http://schemas.openxmlformats.org/drawingml/2006/main">
            <a:pPr>
              <a:defRPr sz="1350" b="0" i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243B53"/>
                </a:solidFill>
                <a:latin typeface="Arial"/>
                <a:ea typeface="Arial"/>
                <a:cs typeface="Arial"/>
              </a:rPr>
              <a:t>Blank required SKU</a:t>
            </a:r>
          </a:p>
          <a:p xmlns:a="http://schemas.openxmlformats.org/drawingml/2006/main">
            <a:pPr>
              <a:defRPr sz="1350" b="0" i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243B53"/>
                </a:solidFill>
                <a:latin typeface="Arial"/>
                <a:ea typeface="Arial"/>
                <a:cs typeface="Arial"/>
              </a:rPr>
              <a:t>Quantity of -2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351D942-F5D7-4CA2-8E64-5CBF4DA14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190750"/>
            <a:ext cx="38100" cy="259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BCA578C-F5F1-46E2-873D-C4DAE1011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228850"/>
            <a:ext cx="285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Delivered files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1E85EE0-31FC-44F0-8E8E-86DCB2A0F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952750"/>
            <a:ext cx="285750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243B53"/>
                </a:solidFill>
                <a:latin typeface="Arial"/>
                <a:ea typeface="Arial"/>
                <a:cs typeface="Arial"/>
              </a:rPr>
              <a:t>Cleaned workbook</a:t>
            </a:r>
          </a:p>
          <a:p xmlns:a="http://schemas.openxmlformats.org/drawingml/2006/main">
            <a:pPr>
              <a:defRPr sz="1350" b="0" i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243B53"/>
                </a:solidFill>
                <a:latin typeface="Arial"/>
                <a:ea typeface="Arial"/>
                <a:cs typeface="Arial"/>
              </a:rPr>
              <a:t>Issue list</a:t>
            </a:r>
          </a:p>
          <a:p xmlns:a="http://schemas.openxmlformats.org/drawingml/2006/main">
            <a:pPr>
              <a:defRPr sz="1350" b="0" i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243B53"/>
                </a:solidFill>
                <a:latin typeface="Arial"/>
                <a:ea typeface="Arial"/>
                <a:cs typeface="Arial"/>
              </a:rPr>
              <a:t>Count and value checks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D052936-5D12-4BF6-9FAB-EB462217D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387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C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66F0E6A-9919-45FF-A482-4A5B3811F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0"/>
            <a:ext cx="304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0588"/>
          </a:bodyPr>
          <a:lstStyle xmlns:a="http://schemas.openxmlformats.org/drawingml/2006/main"/>
          <a:p xmlns:a="http://schemas.openxmlformats.org/drawingml/2006/main">
            <a:pPr>
              <a:defRPr sz="1275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Scope for this demonstration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381E7DF-F201-485C-8D14-982CE4B28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48350"/>
            <a:ext cx="552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8128"/>
          </a:bodyPr>
          <a:lstStyle xmlns:a="http://schemas.openxmlformats.org/drawingml/2006/main"/>
          <a:p xmlns:a="http://schemas.openxmlformats.org/drawingml/2006/main">
            <a:pPr>
              <a:defRPr sz="1200" b="0" i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243B53"/>
                </a:solidFill>
                <a:latin typeface="Arial"/>
                <a:ea typeface="Arial"/>
                <a:cs typeface="Arial"/>
              </a:rPr>
              <a:t>One fictional inventory file. No accounting advice, data enrichment, or business decisions.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E138475-1D18-4A03-AC16-4DA8B98BD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55245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0588"/>
          </a:bodyPr>
          <a:lstStyle xmlns:a="http://schemas.openxmlformats.org/drawingml/2006/main"/>
          <a:p xmlns:a="http://schemas.openxmlformats.org/drawingml/2006/main">
            <a:pPr>
              <a:defRPr sz="1275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How it was made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2CC679F-148E-4953-ACB8-4A35CC200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5848350"/>
            <a:ext cx="4095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4524"/>
          </a:bodyPr>
          <a:lstStyle xmlns:a="http://schemas.openxmlformats.org/drawingml/2006/main"/>
          <a:p xmlns:a="http://schemas.openxmlformats.org/drawingml/2006/main">
            <a:pPr>
              <a:defRPr sz="1050" b="0" i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243B53"/>
                </a:solidFill>
                <a:latin typeface="Arial"/>
                <a:ea typeface="Arial"/>
                <a:cs typeface="Arial"/>
              </a:rPr>
              <a:t>AI-generated demonstration. No human review claim. A client should confirm source decisions before using the cleaned file.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EC12AEC-A052-4EA2-86F8-8C0CF9327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C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2D40428-CD4C-4B0C-B8CF-9EBEECC28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0000"/>
          </a:bodyPr>
          <a:lstStyle xmlns:a="http://schemas.openxmlformats.org/drawingml/2006/main"/>
          <a:p xmlns:a="http://schemas.openxmlformats.org/drawingml/2006/main">
            <a:pPr>
              <a:defRPr sz="750" b="0" i="0">
                <a:solidFill>
                  <a:srgbClr val="627D98"/>
                </a:solidFill>
                <a:latin typeface="Arial"/>
                <a:ea typeface="Arial"/>
                <a:cs typeface="Arial"/>
              </a:defRPr>
            </a:pPr>
            <a:r>
              <a:rPr sz="750" b="0" i="0">
                <a:solidFill>
                  <a:srgbClr val="627D98"/>
                </a:solidFill>
                <a:latin typeface="Arial"/>
                <a:ea typeface="Arial"/>
                <a:cs typeface="Arial"/>
              </a:rPr>
              <a:t>Fictional demonstration only. It does not show client work, client results, or testimonials.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33CD444-B441-4DE7-9A7F-57B645804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6496050"/>
            <a:ext cx="2057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0000"/>
          </a:bodyPr>
          <a:lstStyle xmlns:a="http://schemas.openxmlformats.org/drawingml/2006/main"/>
          <a:p xmlns:a="http://schemas.openxmlformats.org/drawingml/2006/main">
            <a:pPr>
              <a:defRPr sz="750" b="0" i="0">
                <a:solidFill>
                  <a:srgbClr val="627D98"/>
                </a:solidFill>
                <a:latin typeface="Arial"/>
                <a:ea typeface="Arial"/>
                <a:cs typeface="Arial"/>
              </a:defRPr>
            </a:pPr>
            <a:r>
              <a:rPr sz="750" b="0" i="0">
                <a:solidFill>
                  <a:srgbClr val="627D98"/>
                </a:solidFill>
                <a:latin typeface="Arial"/>
                <a:ea typeface="Arial"/>
                <a:cs typeface="Arial"/>
              </a:rPr>
              <a:t>Inventory cleanup sample</a:t>
            </a:r>
          </a:p>
        </p:txBody>
      </p:sp>
    </p:spTree>
    <p:extLst>
      <p:ext uri="{BB962C8B-B14F-4D97-AF65-F5344CB8AC3E}">
        <p14:creationId xmlns:p14="http://schemas.microsoft.com/office/powerpoint/2010/main" val="189662388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2026-09-14T15:37:25.5000000Z</dcterms:created>
  <dcterms:modified xsi:type="dcterms:W3CDTF">2026-09-14T15:37:25.5000000Z</dcterms:modified>
</coreProperties>
</file>